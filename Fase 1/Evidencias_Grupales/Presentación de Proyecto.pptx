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Economica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C0A4AB-07C6-40D4-BCF0-281456A03BA8}">
  <a:tblStyle styleId="{A4C0A4AB-07C6-40D4-BCF0-281456A03B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Economica-bold.fntdata"/><Relationship Id="rId23" Type="http://schemas.openxmlformats.org/officeDocument/2006/relationships/font" Target="fonts/Economica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Economica-boldItalic.fntdata"/><Relationship Id="rId25" Type="http://schemas.openxmlformats.org/officeDocument/2006/relationships/font" Target="fonts/Economica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35" Type="http://schemas.openxmlformats.org/officeDocument/2006/relationships/font" Target="fonts/OpenSans-regular.fntdata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-italic.fntdata"/><Relationship Id="rId14" Type="http://schemas.openxmlformats.org/officeDocument/2006/relationships/slide" Target="slides/slide8.xml"/><Relationship Id="rId36" Type="http://schemas.openxmlformats.org/officeDocument/2006/relationships/font" Target="fonts/Open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7224aac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87224aac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7224aac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87224aac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87224aac1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87224aac1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7224aac1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7224aac1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7224aac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87224aac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7224aac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7224aac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8ae3827d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8ae3827d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87224aac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87224aac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7224aac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87224aac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ae3827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ae3827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9bd78a518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9bd78a518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87224aac1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87224aac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9bd78a518_1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9bd78a518_1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9bd78a518_1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f9bd78a518_1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9e16aad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9e16aad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11" Type="http://schemas.openxmlformats.org/officeDocument/2006/relationships/image" Target="../media/image21.jpg"/><Relationship Id="rId10" Type="http://schemas.openxmlformats.org/officeDocument/2006/relationships/image" Target="../media/image13.png"/><Relationship Id="rId12" Type="http://schemas.openxmlformats.org/officeDocument/2006/relationships/image" Target="../media/image17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93355" y="1469513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NutriPet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181400" y="3540500"/>
            <a:ext cx="2106300" cy="12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Integrantes: 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Valentina Campos, 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Martín Repetti,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Felipe Trejo, 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Cristopher Vial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Docente: Aldo Martinez</a:t>
            </a:r>
            <a:endParaRPr sz="4768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" sz="4768">
                <a:latin typeface="Open Sans"/>
                <a:ea typeface="Open Sans"/>
                <a:cs typeface="Open Sans"/>
                <a:sym typeface="Open Sans"/>
              </a:rPr>
              <a:t>		</a:t>
            </a:r>
            <a:r>
              <a:rPr lang="es" sz="1200">
                <a:latin typeface="Open Sans"/>
                <a:ea typeface="Open Sans"/>
                <a:cs typeface="Open Sans"/>
                <a:sym typeface="Open Sans"/>
              </a:rPr>
              <a:t>	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Índice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Introducción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Target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¿Qué nos diferencia?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Modelo de Negocio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Competencias a Desarrollar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Herramientas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Mockup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Introducción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8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El mercado de las mascotas ha crecido exponencialmente desde la pandemia, esto ha abierto posibilidades a muchos mercados, principalmente a la alimentación. </a:t>
            </a:r>
            <a:b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Con este proyecto intentamos mejorar la 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experiencia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de compra para el usuario, agilizando la 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búsqueda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mediante recomendaciones personalizadas dependiendo del tipo de mascota. </a:t>
            </a: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También ofreciendo comparación entre productos disponibles en el mercado</a:t>
            </a: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750" y="3509725"/>
            <a:ext cx="5399974" cy="114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4">
            <a:alphaModFix/>
          </a:blip>
          <a:srcRect b="0" l="0" r="5794" t="0"/>
          <a:stretch/>
        </p:blipFill>
        <p:spPr>
          <a:xfrm>
            <a:off x="47725" y="167350"/>
            <a:ext cx="5364925" cy="129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2650" y="283225"/>
            <a:ext cx="3632126" cy="10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7800" y="1617700"/>
            <a:ext cx="5775861" cy="173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Target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225225"/>
            <a:ext cx="4555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Dueños de mascotas que buscan tomar decisiones informadas sobre la alimentación.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Personas con perros y gatos.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Dueños de mascotas con necesidades alimentarias </a:t>
            </a: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específicas.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Personas que buscan optimizar su presupuesto.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Usuarios que prefieren comprar cerca de su ubicación.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400"/>
              <a:buFont typeface="Inter"/>
              <a:buChar char="●"/>
            </a:pPr>
            <a:r>
              <a:rPr lang="es" sz="14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Dueños de mascotas exóticas que tienen dificultades para encontrar productos especializados</a:t>
            </a:r>
            <a:endParaRPr sz="14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Woman feeds a dog with dry food at home (proporcionado por Getty Images)"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6875" y="1225225"/>
            <a:ext cx="4072402" cy="327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¿Qué nos diferencia?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Personalización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Comparación de precios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Geolocalización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Multiespecie</a:t>
            </a:r>
            <a:endParaRPr>
              <a:solidFill>
                <a:srgbClr val="071126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Char char="●"/>
            </a:pPr>
            <a:r>
              <a:rPr lang="es">
                <a:solidFill>
                  <a:srgbClr val="071126"/>
                </a:solidFill>
              </a:rPr>
              <a:t>Historial de precios</a:t>
            </a:r>
            <a:endParaRPr>
              <a:solidFill>
                <a:srgbClr val="071126"/>
              </a:solidFill>
            </a:endParaRPr>
          </a:p>
        </p:txBody>
      </p:sp>
      <p:pic>
        <p:nvPicPr>
          <p:cNvPr descr="Girl feeding cat (proporcionado por Getty Images)"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1946" y="1155049"/>
            <a:ext cx="4248023" cy="2833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268300" y="204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Modelo de Negocio</a:t>
            </a:r>
            <a:endParaRPr b="1" sz="40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416575" y="1208075"/>
            <a:ext cx="2614200" cy="3222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3221488" y="1208075"/>
            <a:ext cx="2614200" cy="32223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6084925" y="1226000"/>
            <a:ext cx="2614200" cy="3222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D9D2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58075" y="1403300"/>
            <a:ext cx="2614200" cy="30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87"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Crear cuenta y registrar mascotas.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Guardar características de una mascota.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Obtener recomendaciones personalizadas de alimentos.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Comparar alimentos por precio, composición y compatibilidad.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Ver costo estimado mensual.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Consultar tiendas y enlaces de compra.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-28858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Inter"/>
              <a:buChar char="●"/>
            </a:pPr>
            <a:r>
              <a:rPr lang="es" sz="3779">
                <a:latin typeface="Inter"/>
                <a:ea typeface="Inter"/>
                <a:cs typeface="Inter"/>
                <a:sym typeface="Inter"/>
              </a:rPr>
              <a:t>Actualizar condiciones de la mascota con el tiempo.</a:t>
            </a:r>
            <a:endParaRPr sz="3779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3131875" y="1385375"/>
            <a:ext cx="2703900" cy="25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Recomendaciones más avanzadas y detalladas.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Historial completo de cambios de peso, salud y alimentación.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Alertas por cambios de precio.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Alertas cuando un alimento recomendado entra en oferta.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Mayor cantidad de mascotas registradas.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Reportes o resumen nutricional descargable.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Comparación avanzada entre productos.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6026425" y="1385375"/>
            <a:ext cx="2497200" cy="28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Pago por mayor visibilidad dentro de búsquedas.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Productos destacados o patrocinados.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Espacios publicitarios para marcas y tiendas.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Enlaces de afiliados por compra derivada desde la plataforma.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Comisión por venta generada.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Planes comerciales para tiendas o marcas.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"/>
              <a:buChar char="●"/>
            </a:pPr>
            <a:r>
              <a:rPr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Estadísticas agregadas de interés de usuarios, siempre de forma anónima.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803950" y="1226000"/>
            <a:ext cx="1507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Premium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19375" y="1200650"/>
            <a:ext cx="2352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Funciones Gratuitas</a:t>
            </a:r>
            <a:endParaRPr sz="15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6790250" y="1251350"/>
            <a:ext cx="1507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Publicidad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/>
          <p:nvPr/>
        </p:nvSpPr>
        <p:spPr>
          <a:xfrm>
            <a:off x="311705" y="10215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0"/>
          <p:cNvSpPr txBox="1"/>
          <p:nvPr>
            <p:ph type="title"/>
          </p:nvPr>
        </p:nvSpPr>
        <p:spPr>
          <a:xfrm>
            <a:off x="215100" y="1524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628950" y="1032250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282150" y="1484875"/>
            <a:ext cx="20091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Información Nutricional Incorrecta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3582230" y="10215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943800" y="1032250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3582225" y="1426825"/>
            <a:ext cx="20091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Datos insuficientes de productos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0"/>
          <p:cNvSpPr/>
          <p:nvPr/>
        </p:nvSpPr>
        <p:spPr>
          <a:xfrm>
            <a:off x="6882305" y="10215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7229100" y="1032250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6882300" y="1484875"/>
            <a:ext cx="200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Precios desactualizados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311705" y="30138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658500" y="3013825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282150" y="3419125"/>
            <a:ext cx="20091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3567455" y="30138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3914250" y="3051225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Alto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3552675" y="3419125"/>
            <a:ext cx="20091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Integración con Tiendas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6882305" y="3013825"/>
            <a:ext cx="1950000" cy="18444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 cap="flat" cmpd="sng" w="9525">
            <a:solidFill>
              <a:srgbClr val="E2F5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7229100" y="3013825"/>
            <a:ext cx="12564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Medio</a:t>
            </a:r>
            <a:endParaRPr sz="19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4" name="Google Shape;134;p20"/>
          <p:cNvSpPr txBox="1"/>
          <p:nvPr/>
        </p:nvSpPr>
        <p:spPr>
          <a:xfrm>
            <a:off x="6882300" y="3419125"/>
            <a:ext cx="200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2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Disponibilidad de Stock 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709050" y="1957925"/>
            <a:ext cx="11553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337350" y="2277750"/>
            <a:ext cx="18948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Validación y fuentes oficiales 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3086775" y="1962288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3224250" y="2277750"/>
            <a:ext cx="2695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Múltiples fuentes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 información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6357300" y="1962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6997500" y="2337550"/>
            <a:ext cx="1778700" cy="2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Actualización periódica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-213300" y="36702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215100" y="4124625"/>
            <a:ext cx="21393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Autenticación y protección de datos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3042450" y="372827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3760450" y="4136500"/>
            <a:ext cx="1347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45" name="Google Shape;145;p20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{A4C0A4AB-07C6-40D4-BCF0-281456A03BA8}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6" name="Google Shape;146;p20"/>
          <p:cNvGraphicFramePr/>
          <p:nvPr/>
        </p:nvGraphicFramePr>
        <p:xfrm>
          <a:off x="3390413" y="401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{A4C0A4AB-07C6-40D4-BCF0-281456A03BA8}</a:tableStyleId>
              </a:tblPr>
              <a:tblGrid>
                <a:gridCol w="2333625"/>
              </a:tblGrid>
              <a:tr h="59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Integración gradual / enlaces externos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47" name="Google Shape;147;p20"/>
          <p:cNvSpPr txBox="1"/>
          <p:nvPr/>
        </p:nvSpPr>
        <p:spPr>
          <a:xfrm>
            <a:off x="7107750" y="4058025"/>
            <a:ext cx="155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Informar </a:t>
            </a: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ultima</a:t>
            </a:r>
            <a:r>
              <a:rPr lang="es" sz="1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actualización </a:t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6386850" y="374500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Mitigación</a:t>
            </a:r>
            <a:endParaRPr sz="1500">
              <a:solidFill>
                <a:schemeClr val="dk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1" title="4.jpg"/>
          <p:cNvPicPr preferRelativeResize="0"/>
          <p:nvPr/>
        </p:nvPicPr>
        <p:blipFill rotWithShape="1">
          <a:blip r:embed="rId3">
            <a:alphaModFix/>
          </a:blip>
          <a:srcRect b="14308" l="7818" r="30377" t="14401"/>
          <a:stretch/>
        </p:blipFill>
        <p:spPr>
          <a:xfrm>
            <a:off x="3090475" y="680987"/>
            <a:ext cx="5828573" cy="37815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>
            <p:ph type="title"/>
          </p:nvPr>
        </p:nvSpPr>
        <p:spPr>
          <a:xfrm>
            <a:off x="7865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Metodología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Google Shape;155;p21"/>
          <p:cNvSpPr txBox="1"/>
          <p:nvPr>
            <p:ph idx="1" type="body"/>
          </p:nvPr>
        </p:nvSpPr>
        <p:spPr>
          <a:xfrm>
            <a:off x="311700" y="1225225"/>
            <a:ext cx="2626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Product Owner: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Scrum </a:t>
            </a: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Master</a:t>
            </a: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Desarrolladores: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Competencias a Desarrollar 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90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Desarrollo de software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Bases de datos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Ingeniería de requisitos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Gestión de proyectos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Diseño de soluciones de software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71126"/>
              </a:buClr>
              <a:buSzPts val="1800"/>
              <a:buFont typeface="Inter"/>
              <a:buChar char="●"/>
            </a:pPr>
            <a:r>
              <a:rPr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Desarrollo móvil</a:t>
            </a:r>
            <a:endParaRPr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/>
          <p:nvPr/>
        </p:nvSpPr>
        <p:spPr>
          <a:xfrm>
            <a:off x="176875" y="1015550"/>
            <a:ext cx="2683500" cy="2941800"/>
          </a:xfrm>
          <a:prstGeom prst="roundRect">
            <a:avLst>
              <a:gd fmla="val 16667" name="adj"/>
            </a:avLst>
          </a:prstGeom>
          <a:solidFill>
            <a:srgbClr val="DCEBFA">
              <a:alpha val="65000"/>
            </a:srgbClr>
          </a:solidFill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6135925" y="1015700"/>
            <a:ext cx="2683500" cy="2941800"/>
          </a:xfrm>
          <a:prstGeom prst="roundRect">
            <a:avLst>
              <a:gd fmla="val 16667" name="adj"/>
            </a:avLst>
          </a:prstGeom>
          <a:solidFill>
            <a:srgbClr val="EEE5FA">
              <a:alpha val="65000"/>
            </a:srgbClr>
          </a:solidFill>
          <a:ln cap="flat" cmpd="sng" w="9525">
            <a:solidFill>
              <a:srgbClr val="E1C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3156400" y="1015700"/>
            <a:ext cx="2683500" cy="2941800"/>
          </a:xfrm>
          <a:prstGeom prst="roundRect">
            <a:avLst>
              <a:gd fmla="val 16667" name="adj"/>
            </a:avLst>
          </a:prstGeom>
          <a:solidFill>
            <a:srgbClr val="E7F4CE">
              <a:alpha val="65000"/>
            </a:srgbClr>
          </a:solidFill>
          <a:ln cap="flat" cmpd="sng" w="9525">
            <a:solidFill>
              <a:srgbClr val="C8DD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176875" y="4130325"/>
            <a:ext cx="8581500" cy="831300"/>
          </a:xfrm>
          <a:prstGeom prst="roundRect">
            <a:avLst>
              <a:gd fmla="val 16667" name="adj"/>
            </a:avLst>
          </a:prstGeom>
          <a:solidFill>
            <a:srgbClr val="F6DFC0">
              <a:alpha val="65000"/>
            </a:srgbClr>
          </a:solidFill>
          <a:ln cap="flat" cmpd="sng" w="9525">
            <a:solidFill>
              <a:srgbClr val="E7C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0" name="Google Shape;170;p23"/>
          <p:cNvSpPr txBox="1"/>
          <p:nvPr>
            <p:ph type="title"/>
          </p:nvPr>
        </p:nvSpPr>
        <p:spPr>
          <a:xfrm>
            <a:off x="207325" y="-139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3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Herramientas</a:t>
            </a:r>
            <a:r>
              <a:rPr lang="es">
                <a:latin typeface="Inter"/>
                <a:ea typeface="Inter"/>
                <a:cs typeface="Inter"/>
                <a:sym typeface="Inter"/>
              </a:rPr>
              <a:t> 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" name="Google Shape;171;p23"/>
          <p:cNvSpPr txBox="1"/>
          <p:nvPr>
            <p:ph idx="1" type="body"/>
          </p:nvPr>
        </p:nvSpPr>
        <p:spPr>
          <a:xfrm>
            <a:off x="507450" y="1115597"/>
            <a:ext cx="2239800" cy="831300"/>
          </a:xfrm>
          <a:prstGeom prst="rect">
            <a:avLst/>
          </a:prstGeom>
        </p:spPr>
        <p:txBody>
          <a:bodyPr anchorCtr="0" anchor="t" bIns="95650" lIns="95650" spcFirstLastPara="1" rIns="95650" wrap="square" tIns="95650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923">
                <a:solidFill>
                  <a:srgbClr val="2563A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FrontEnd</a:t>
            </a:r>
            <a:endParaRPr sz="8923">
              <a:solidFill>
                <a:srgbClr val="2563A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ctr">
              <a:spcBef>
                <a:spcPts val="1255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  <a:p>
            <a:pPr indent="0" lvl="0" marL="0" rtl="0" algn="ctr">
              <a:spcBef>
                <a:spcPts val="1255"/>
              </a:spcBef>
              <a:spcAft>
                <a:spcPts val="1255"/>
              </a:spcAft>
              <a:buNone/>
            </a:pPr>
            <a:r>
              <a:t/>
            </a:r>
            <a:endParaRPr sz="1883"/>
          </a:p>
        </p:txBody>
      </p:sp>
      <p:sp>
        <p:nvSpPr>
          <p:cNvPr id="172" name="Google Shape;172;p23"/>
          <p:cNvSpPr txBox="1"/>
          <p:nvPr>
            <p:ph idx="1" type="body"/>
          </p:nvPr>
        </p:nvSpPr>
        <p:spPr>
          <a:xfrm>
            <a:off x="6621250" y="1125913"/>
            <a:ext cx="21372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rgbClr val="62439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 de datos</a:t>
            </a:r>
            <a:endParaRPr sz="2000">
              <a:solidFill>
                <a:srgbClr val="62439A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996225" y="4130325"/>
            <a:ext cx="34107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rgbClr val="9A6A2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 de versiones</a:t>
            </a:r>
            <a:endParaRPr sz="2000">
              <a:solidFill>
                <a:srgbClr val="9A6A2F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74" name="Google Shape;1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788" y="1755487"/>
            <a:ext cx="332575" cy="33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788" y="4265687"/>
            <a:ext cx="560573" cy="560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2500" y="1775882"/>
            <a:ext cx="332575" cy="3432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23"/>
          <p:cNvGrpSpPr/>
          <p:nvPr/>
        </p:nvGrpSpPr>
        <p:grpSpPr>
          <a:xfrm>
            <a:off x="628977" y="1182856"/>
            <a:ext cx="332556" cy="332556"/>
            <a:chOff x="453488" y="908938"/>
            <a:chExt cx="406200" cy="406200"/>
          </a:xfrm>
        </p:grpSpPr>
        <p:sp>
          <p:nvSpPr>
            <p:cNvPr id="178" name="Google Shape;178;p23"/>
            <p:cNvSpPr/>
            <p:nvPr/>
          </p:nvSpPr>
          <p:spPr>
            <a:xfrm>
              <a:off x="453488" y="908938"/>
              <a:ext cx="406200" cy="406200"/>
            </a:xfrm>
            <a:prstGeom prst="ellipse">
              <a:avLst/>
            </a:prstGeom>
            <a:solidFill>
              <a:schemeClr val="lt1"/>
            </a:solidFill>
            <a:ln cap="flat" cmpd="sng" w="7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4850" lIns="74850" spcFirstLastPara="1" rIns="74850" wrap="square" tIns="748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46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79" name="Google Shape;179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16825" y="972275"/>
              <a:ext cx="279525" cy="2795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0" name="Google Shape;18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7850" y="2413978"/>
            <a:ext cx="686450" cy="34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4797" y="3083150"/>
            <a:ext cx="332550" cy="46969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905600" y="1654151"/>
            <a:ext cx="1738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Next.js 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Framework de React para aplicaciones web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897338" y="2370200"/>
            <a:ext cx="1754700" cy="3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React + TypeScript</a:t>
            </a:r>
            <a:endParaRPr b="1" sz="13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ibrería</a:t>
            </a: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 para interfaces de usuario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905600" y="3075750"/>
            <a:ext cx="16191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CSS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Estilos personalizados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24559" y="2379559"/>
            <a:ext cx="686450" cy="313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87500" y="1775862"/>
            <a:ext cx="560568" cy="3432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" name="Google Shape;187;p23"/>
          <p:cNvGrpSpPr/>
          <p:nvPr/>
        </p:nvGrpSpPr>
        <p:grpSpPr>
          <a:xfrm>
            <a:off x="3604138" y="1125925"/>
            <a:ext cx="1935713" cy="466763"/>
            <a:chOff x="3439788" y="1004125"/>
            <a:chExt cx="1935713" cy="466763"/>
          </a:xfrm>
        </p:grpSpPr>
        <p:sp>
          <p:nvSpPr>
            <p:cNvPr id="188" name="Google Shape;188;p23"/>
            <p:cNvSpPr txBox="1"/>
            <p:nvPr/>
          </p:nvSpPr>
          <p:spPr>
            <a:xfrm>
              <a:off x="3620800" y="1004125"/>
              <a:ext cx="1754700" cy="33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39732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BackEnd</a:t>
              </a:r>
              <a:endParaRPr sz="2200">
                <a:solidFill>
                  <a:srgbClr val="39732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3439788" y="1064688"/>
              <a:ext cx="456000" cy="406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90" name="Google Shape;190;p2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3501500" y="1131662"/>
              <a:ext cx="332574" cy="2722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1" name="Google Shape;191;p23"/>
          <p:cNvSpPr txBox="1"/>
          <p:nvPr/>
        </p:nvSpPr>
        <p:spPr>
          <a:xfrm>
            <a:off x="4044175" y="1654150"/>
            <a:ext cx="15705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Node.js 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rPr>
              <a:t>Entorno de ejecución de JavaScript</a:t>
            </a:r>
            <a:endParaRPr sz="1000">
              <a:solidFill>
                <a:schemeClr val="accent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4044175" y="2314850"/>
            <a:ext cx="1738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Nest.js 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Framework para construir APIs escalables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93" name="Google Shape;193;p23"/>
          <p:cNvGrpSpPr/>
          <p:nvPr/>
        </p:nvGrpSpPr>
        <p:grpSpPr>
          <a:xfrm>
            <a:off x="6349813" y="1156213"/>
            <a:ext cx="406200" cy="406200"/>
            <a:chOff x="6359938" y="1111850"/>
            <a:chExt cx="406200" cy="406200"/>
          </a:xfrm>
        </p:grpSpPr>
        <p:sp>
          <p:nvSpPr>
            <p:cNvPr id="194" name="Google Shape;194;p23"/>
            <p:cNvSpPr/>
            <p:nvPr/>
          </p:nvSpPr>
          <p:spPr>
            <a:xfrm>
              <a:off x="6359938" y="1111850"/>
              <a:ext cx="406200" cy="4062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pic>
          <p:nvPicPr>
            <p:cNvPr id="195" name="Google Shape;195;p2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6396750" y="1148672"/>
              <a:ext cx="332575" cy="33255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23"/>
          <p:cNvSpPr txBox="1"/>
          <p:nvPr/>
        </p:nvSpPr>
        <p:spPr>
          <a:xfrm>
            <a:off x="6756025" y="1688363"/>
            <a:ext cx="17382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PostgreSQL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rPr>
              <a:t>Sistema de gestión de bases de datos relacional</a:t>
            </a:r>
            <a:endParaRPr sz="100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996225" y="4497350"/>
            <a:ext cx="7214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GitHub para gestión de código y colaboración de equipo</a:t>
            </a:r>
            <a:endParaRPr sz="1500">
              <a:solidFill>
                <a:schemeClr val="accent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23"/>
          <p:cNvSpPr/>
          <p:nvPr/>
        </p:nvSpPr>
        <p:spPr>
          <a:xfrm>
            <a:off x="230375" y="4228400"/>
            <a:ext cx="701400" cy="638400"/>
          </a:xfrm>
          <a:prstGeom prst="ellipse">
            <a:avLst/>
          </a:prstGeom>
          <a:noFill/>
          <a:ln cap="flat" cmpd="sng" w="19050">
            <a:solidFill>
              <a:srgbClr val="E7C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333425" y="1686863"/>
            <a:ext cx="4953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34175" y="2403775"/>
            <a:ext cx="701400" cy="332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304675" y="3014500"/>
            <a:ext cx="560400" cy="638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B9D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3324575" y="1688375"/>
            <a:ext cx="686400" cy="466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8DD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324575" y="2342975"/>
            <a:ext cx="686400" cy="406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8DDA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6249050" y="1712575"/>
            <a:ext cx="560700" cy="46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1C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30375" y="600175"/>
            <a:ext cx="67383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Tecnologías</a:t>
            </a:r>
            <a:r>
              <a:rPr lang="es" sz="15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 seleccionadas para el desarrollo de la plataforma</a:t>
            </a:r>
            <a:endParaRPr sz="15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1" name="Google Shape;211;p24" title="82d84d33-d097-41b4-93d6-331de6188b0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9499" y="770850"/>
            <a:ext cx="6158051" cy="410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7" name="Google Shape;217;p25" title="a56f3ab1-42f4-445b-b4fa-fdc6167fd81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2113" y="770850"/>
            <a:ext cx="6239773" cy="41598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3" name="Google Shape;223;p26" title="d5efde79-e8c3-4c77-ba1d-4c4f3b176f5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113" y="770850"/>
            <a:ext cx="6101775" cy="4067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>
            <p:ph type="title"/>
          </p:nvPr>
        </p:nvSpPr>
        <p:spPr>
          <a:xfrm>
            <a:off x="48225" y="-604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Inter"/>
                <a:ea typeface="Inter"/>
                <a:cs typeface="Inter"/>
                <a:sym typeface="Inter"/>
              </a:rPr>
              <a:t>Mockup</a:t>
            </a:r>
            <a:endParaRPr b="1"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9" name="Google Shape;229;p27" title="785bee33-009d-4937-85b6-739ad27fcbe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7638" y="770850"/>
            <a:ext cx="6101775" cy="4067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Conclusión</a:t>
            </a:r>
            <a:endParaRPr b="1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311700" y="1225225"/>
            <a:ext cx="8584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s" sz="1600">
                <a:solidFill>
                  <a:srgbClr val="071126"/>
                </a:solidFill>
                <a:latin typeface="Inter"/>
                <a:ea typeface="Inter"/>
                <a:cs typeface="Inter"/>
                <a:sym typeface="Inter"/>
              </a:rPr>
            </a:br>
            <a:endParaRPr sz="1600">
              <a:solidFill>
                <a:srgbClr val="07112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36" name="Google Shape;23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6138" y="1399450"/>
            <a:ext cx="5975914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